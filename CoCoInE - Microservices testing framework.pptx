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CoCoINE PROJECT_OVERVIEW.md: https://github.com/snehasish-das/CoCoInE-Selenium-TestNG/blob/main/PROJECT_OVERVIEW.md</a:t>
            </a:r>
          </a:p>
          <a:p>
            <a:r>
              <a:t>- CoCoINE README.md: https://github.com/snehasish-das/CoCoInE-Selenium-TestNG/blob/main/README.md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CoCoINE PROJECT_OVERVIEW.md: framework purpose, layered architecture, reporting, cloud integrations.</a:t>
            </a:r>
          </a:p>
          <a:p>
            <a:r>
              <a:t>- CoCoINE README.md: Maven/TestNG execution, parallel runs, Docker, AWS, LambdaTest.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CoCoINE PROJECT_OVERVIEW.md: component, contract, integration, E2E, smoke categories.</a:t>
            </a:r>
          </a:p>
          <a:p>
            <a:r>
              <a:t>- CoCoINE README.md: UI scenarios, API scenarios, JSONPath assertions, auth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CoCoINE PROJECT_OVERVIEW.md: Core CoCoIne utility, module base classes, framework layers.</a:t>
            </a:r>
          </a:p>
          <a:p>
            <a:r>
              <a:t>- CoCoINE README.md: Selenium, TestNG, REST-Assured, WebDriverManager, Extent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CoCoINE PROJECT_OVERVIEW.md: reporting, screenshots, Docker/AWS/LambdaTest, enterprise-ready summary.</a:t>
            </a:r>
          </a:p>
          <a:p>
            <a:r>
              <a:t>- CoCoINE README.md: reporting, CI/CD integration, cloud and container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snehasish-das-390996415/" TargetMode="External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snehasish-das-390996415/" TargetMode="Externa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snehasish-das-390996415/" TargetMode="External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snehasish-das-390996415/" TargetMode="External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snehasish-das-390996415/" TargetMode="External"/><Relationship Id="rId5" Type="http://schemas.openxmlformats.org/officeDocument/2006/relationships/image" Target="../media/image19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0225B60-F446-4481-93E6-792FF9356F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382F8F61-4BE1-4053-8FD4-5F63B6778C35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85725" cy="85725"/>
          </a:xfrm>
          <a:prstGeom prst="ellipse">
            <a:avLst/>
          </a:prstGeom>
          <a:solidFill>
            <a:srgbClr val="16A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CE2719E9-4C8A-491A-BC53-F9C0B0792D40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424F"/>
                </a:solidFill>
                <a:latin typeface="Aptos"/>
                <a:ea typeface="Aptos"/>
                <a:cs typeface="Aptos"/>
              </a:rPr>
              <a:t>PORTFOLIO POSITIONING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C073CE-2CB7-40B5-B642-EE0E3F192C7D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858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dirty="0" err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CoCoInE</a:t>
            </a:r>
            <a:r>
              <a:rPr sz="2700" b="1" dirty="0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 - Microservices testing framework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49437C-EC40-47E1-B1BA-204BB72515D1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609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31424F"/>
                </a:solidFill>
                <a:latin typeface="Aptos"/>
                <a:ea typeface="Aptos"/>
                <a:cs typeface="Aptos"/>
              </a:rPr>
              <a:t>A Java SDET framework for UI, API, contract, integration, and end-to-end testing with reusable layers.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AE05C3-98EE-418D-8E66-F5887E7BB2EB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3000375" cy="1066800"/>
          </a:xfrm>
          <a:prstGeom prst="rect">
            <a:avLst/>
          </a:prstGeom>
          <a:solidFill>
            <a:srgbClr val="DDF2E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D26648-5193-4318-AC6D-5B5F2761D915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76200" cy="1066800"/>
          </a:xfrm>
          <a:prstGeom prst="rect">
            <a:avLst/>
          </a:prstGeom>
          <a:solidFill>
            <a:srgbClr val="16A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5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81050" y="2971800"/>
            <a:ext cx="342900" cy="3429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8A46342-CE04-4D2D-B417-013AA4603868}"/>
              </a:ext>
            </a:extLst>
          </p:cNvPr>
          <p:cNvSpPr>
            <a:spLocks noGrp="1"/>
          </p:cNvSpPr>
          <p:nvPr/>
        </p:nvSpPr>
        <p:spPr>
          <a:xfrm>
            <a:off x="2895600" y="29146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16A6A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6A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81493D-3362-4FA4-BBCB-A11C59609DCE}"/>
              </a:ext>
            </a:extLst>
          </p:cNvPr>
          <p:cNvSpPr>
            <a:spLocks noGrp="1"/>
          </p:cNvSpPr>
          <p:nvPr/>
        </p:nvSpPr>
        <p:spPr>
          <a:xfrm>
            <a:off x="1295400" y="29337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Layered testing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D8476F-6FF9-4E06-AC4E-151C9404EEF8}"/>
              </a:ext>
            </a:extLst>
          </p:cNvPr>
          <p:cNvSpPr>
            <a:spLocks noGrp="1"/>
          </p:cNvSpPr>
          <p:nvPr/>
        </p:nvSpPr>
        <p:spPr>
          <a:xfrm>
            <a:off x="1295400" y="3305175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Component, contract, integration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833C97-2307-4ABA-BC54-D752A0CA057B}"/>
              </a:ext>
            </a:extLst>
          </p:cNvPr>
          <p:cNvSpPr>
            <a:spLocks noGrp="1"/>
          </p:cNvSpPr>
          <p:nvPr/>
        </p:nvSpPr>
        <p:spPr>
          <a:xfrm>
            <a:off x="4029075" y="2724150"/>
            <a:ext cx="3000375" cy="1066800"/>
          </a:xfrm>
          <a:prstGeom prst="rect">
            <a:avLst/>
          </a:prstGeom>
          <a:solidFill>
            <a:srgbClr val="FFF0C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A920D3-8A15-478C-BD85-5C0B723B63C4}"/>
              </a:ext>
            </a:extLst>
          </p:cNvPr>
          <p:cNvSpPr>
            <a:spLocks noGrp="1"/>
          </p:cNvSpPr>
          <p:nvPr/>
        </p:nvSpPr>
        <p:spPr>
          <a:xfrm>
            <a:off x="4029075" y="2724150"/>
            <a:ext cx="76200" cy="106680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1" name="Graphic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257675" y="2971800"/>
            <a:ext cx="342900" cy="3429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56F2362-4094-4F9D-BC35-2B3881A2C79E}"/>
              </a:ext>
            </a:extLst>
          </p:cNvPr>
          <p:cNvSpPr>
            <a:spLocks noGrp="1"/>
          </p:cNvSpPr>
          <p:nvPr/>
        </p:nvSpPr>
        <p:spPr>
          <a:xfrm>
            <a:off x="6372225" y="29146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73CD51-14B7-46B1-8494-1A9FD0AA19DB}"/>
              </a:ext>
            </a:extLst>
          </p:cNvPr>
          <p:cNvSpPr>
            <a:spLocks noGrp="1"/>
          </p:cNvSpPr>
          <p:nvPr/>
        </p:nvSpPr>
        <p:spPr>
          <a:xfrm>
            <a:off x="4772025" y="29337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UI automation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FAB04F-34D5-4FA6-9DCC-AA842B2FE994}"/>
              </a:ext>
            </a:extLst>
          </p:cNvPr>
          <p:cNvSpPr>
            <a:spLocks noGrp="1"/>
          </p:cNvSpPr>
          <p:nvPr/>
        </p:nvSpPr>
        <p:spPr>
          <a:xfrm>
            <a:off x="4772025" y="3305175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Selenium WebDriver + browsers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E1E23D-59E3-4E69-8EE2-C71C6DBBF3C2}"/>
              </a:ext>
            </a:extLst>
          </p:cNvPr>
          <p:cNvSpPr>
            <a:spLocks noGrp="1"/>
          </p:cNvSpPr>
          <p:nvPr/>
        </p:nvSpPr>
        <p:spPr>
          <a:xfrm>
            <a:off x="7505700" y="2724150"/>
            <a:ext cx="3000375" cy="1066800"/>
          </a:xfrm>
          <a:prstGeom prst="rect">
            <a:avLst/>
          </a:prstGeom>
          <a:solidFill>
            <a:srgbClr val="E4EDF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39DB92-5FC0-4296-AA06-E4AC8F2910DF}"/>
              </a:ext>
            </a:extLst>
          </p:cNvPr>
          <p:cNvSpPr>
            <a:spLocks noGrp="1"/>
          </p:cNvSpPr>
          <p:nvPr/>
        </p:nvSpPr>
        <p:spPr>
          <a:xfrm>
            <a:off x="7505700" y="2724150"/>
            <a:ext cx="76200" cy="1066800"/>
          </a:xfrm>
          <a:prstGeom prst="rect">
            <a:avLst/>
          </a:prstGeom>
          <a:solidFill>
            <a:srgbClr val="3F7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7" name="Graphic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734300" y="2971800"/>
            <a:ext cx="342900" cy="3429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AB9398C-4A9B-46A7-880B-03B81271BB17}"/>
              </a:ext>
            </a:extLst>
          </p:cNvPr>
          <p:cNvSpPr>
            <a:spLocks noGrp="1"/>
          </p:cNvSpPr>
          <p:nvPr/>
        </p:nvSpPr>
        <p:spPr>
          <a:xfrm>
            <a:off x="9848850" y="29146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3F7DD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F7DD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D1D73C-21B7-4FBF-9709-DCD97463D813}"/>
              </a:ext>
            </a:extLst>
          </p:cNvPr>
          <p:cNvSpPr>
            <a:spLocks noGrp="1"/>
          </p:cNvSpPr>
          <p:nvPr/>
        </p:nvSpPr>
        <p:spPr>
          <a:xfrm>
            <a:off x="8248650" y="29337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API validation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8911BB-8B7D-41DA-9E2B-14AC540B95DA}"/>
              </a:ext>
            </a:extLst>
          </p:cNvPr>
          <p:cNvSpPr>
            <a:spLocks noGrp="1"/>
          </p:cNvSpPr>
          <p:nvPr/>
        </p:nvSpPr>
        <p:spPr>
          <a:xfrm>
            <a:off x="8248650" y="3305175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REST-Assured + auth coverage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EF73A4-BA14-4923-ADAE-7BD337431060}"/>
              </a:ext>
            </a:extLst>
          </p:cNvPr>
          <p:cNvSpPr>
            <a:spLocks noGrp="1"/>
          </p:cNvSpPr>
          <p:nvPr/>
        </p:nvSpPr>
        <p:spPr>
          <a:xfrm>
            <a:off x="552450" y="4152900"/>
            <a:ext cx="3000375" cy="1066800"/>
          </a:xfrm>
          <a:prstGeom prst="rect">
            <a:avLst/>
          </a:prstGeom>
          <a:solidFill>
            <a:srgbClr val="E4F4E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82EB5F-62E5-4CF7-9154-A22E91973690}"/>
              </a:ext>
            </a:extLst>
          </p:cNvPr>
          <p:cNvSpPr>
            <a:spLocks noGrp="1"/>
          </p:cNvSpPr>
          <p:nvPr/>
        </p:nvSpPr>
        <p:spPr>
          <a:xfrm>
            <a:off x="552450" y="4152900"/>
            <a:ext cx="76200" cy="1066800"/>
          </a:xfrm>
          <a:prstGeom prst="rect">
            <a:avLst/>
          </a:prstGeom>
          <a:solidFill>
            <a:srgbClr val="4FB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3" name="Graphic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81050" y="4400550"/>
            <a:ext cx="342900" cy="3429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A75CE6C-2DF2-4AB3-B78F-4B001411FCE9}"/>
              </a:ext>
            </a:extLst>
          </p:cNvPr>
          <p:cNvSpPr>
            <a:spLocks noGrp="1"/>
          </p:cNvSpPr>
          <p:nvPr/>
        </p:nvSpPr>
        <p:spPr>
          <a:xfrm>
            <a:off x="2895600" y="434340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4FBC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FBC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B67491-3BCA-4E1E-AEEF-7986D1D11CF4}"/>
              </a:ext>
            </a:extLst>
          </p:cNvPr>
          <p:cNvSpPr>
            <a:spLocks noGrp="1"/>
          </p:cNvSpPr>
          <p:nvPr/>
        </p:nvSpPr>
        <p:spPr>
          <a:xfrm>
            <a:off x="1295400" y="436245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Execution signal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479A22-9A69-4FAE-B6D5-39CD839D07AE}"/>
              </a:ext>
            </a:extLst>
          </p:cNvPr>
          <p:cNvSpPr>
            <a:spLocks noGrp="1"/>
          </p:cNvSpPr>
          <p:nvPr/>
        </p:nvSpPr>
        <p:spPr>
          <a:xfrm>
            <a:off x="1295400" y="4733925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TestNG, reports, screenshots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74D05B-01C1-463E-8423-8954817F6AEF}"/>
              </a:ext>
            </a:extLst>
          </p:cNvPr>
          <p:cNvSpPr>
            <a:spLocks noGrp="1"/>
          </p:cNvSpPr>
          <p:nvPr/>
        </p:nvSpPr>
        <p:spPr>
          <a:xfrm>
            <a:off x="4029075" y="4152900"/>
            <a:ext cx="3000375" cy="1066800"/>
          </a:xfrm>
          <a:prstGeom prst="rect">
            <a:avLst/>
          </a:prstGeom>
          <a:solidFill>
            <a:srgbClr val="FDE5D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437BB2-72F4-479D-A48E-AEE0C2FE71C1}"/>
              </a:ext>
            </a:extLst>
          </p:cNvPr>
          <p:cNvSpPr>
            <a:spLocks noGrp="1"/>
          </p:cNvSpPr>
          <p:nvPr/>
        </p:nvSpPr>
        <p:spPr>
          <a:xfrm>
            <a:off x="4029075" y="4152900"/>
            <a:ext cx="76200" cy="1066800"/>
          </a:xfrm>
          <a:prstGeom prst="rect">
            <a:avLst/>
          </a:prstGeom>
          <a:solidFill>
            <a:srgbClr val="F26A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9" name="Graphic 3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257675" y="4400550"/>
            <a:ext cx="342900" cy="3429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E2A5E0D-CF45-4B31-BA14-08A074690242}"/>
              </a:ext>
            </a:extLst>
          </p:cNvPr>
          <p:cNvSpPr>
            <a:spLocks noGrp="1"/>
          </p:cNvSpPr>
          <p:nvPr/>
        </p:nvSpPr>
        <p:spPr>
          <a:xfrm>
            <a:off x="6372225" y="434340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F2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6A4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10C29C-0D66-4C60-A17A-19D7311F0A04}"/>
              </a:ext>
            </a:extLst>
          </p:cNvPr>
          <p:cNvSpPr>
            <a:spLocks noGrp="1"/>
          </p:cNvSpPr>
          <p:nvPr/>
        </p:nvSpPr>
        <p:spPr>
          <a:xfrm>
            <a:off x="4772025" y="436245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Cloud ready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3B2CBD-96A5-4A38-8BD1-9E66287EC0D9}"/>
              </a:ext>
            </a:extLst>
          </p:cNvPr>
          <p:cNvSpPr>
            <a:spLocks noGrp="1"/>
          </p:cNvSpPr>
          <p:nvPr/>
        </p:nvSpPr>
        <p:spPr>
          <a:xfrm>
            <a:off x="4772025" y="4733925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Docker, AWS, LambdaTest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7BF858-8ED5-48E2-AB76-5926A5E101F4}"/>
              </a:ext>
            </a:extLst>
          </p:cNvPr>
          <p:cNvSpPr>
            <a:spLocks noGrp="1"/>
          </p:cNvSpPr>
          <p:nvPr/>
        </p:nvSpPr>
        <p:spPr>
          <a:xfrm>
            <a:off x="7791450" y="1676400"/>
            <a:ext cx="3086100" cy="323850"/>
          </a:xfrm>
          <a:prstGeom prst="rect">
            <a:avLst/>
          </a:prstGeom>
          <a:solidFill>
            <a:srgbClr val="17252D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1AEF267-42A1-4F48-A52B-9A3AF0F93574}"/>
              </a:ext>
            </a:extLst>
          </p:cNvPr>
          <p:cNvSpPr>
            <a:spLocks noGrp="1"/>
          </p:cNvSpPr>
          <p:nvPr/>
        </p:nvSpPr>
        <p:spPr>
          <a:xfrm>
            <a:off x="7905750" y="1743075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read: 5 slides / 8 minutes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FBE314-04E3-4485-82A3-93DD50EDE050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9715500" cy="9525"/>
          </a:xfrm>
          <a:prstGeom prst="rect">
            <a:avLst/>
          </a:prstGeom>
          <a:solidFill>
            <a:srgbClr val="D8D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1729BA0-C691-41EF-8647-91A7DE269ABD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0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B"/>
                </a:solidFill>
                <a:latin typeface="Aptos"/>
                <a:ea typeface="Aptos"/>
                <a:cs typeface="Aptos"/>
              </a:rPr>
              <a:t>CoCoINE SDET portfolio</a:t>
            </a:r>
          </a:p>
        </p:txBody>
      </p:sp>
      <p:sp>
        <p:nvSpPr>
          <p:cNvPr id="40" name="linkedin-footer">
            <a:extLst>
              <a:ext uri="{FF2B5EF4-FFF2-40B4-BE49-F238E27FC236}">
                <a16:creationId xmlns:a16="http://schemas.microsoft.com/office/drawing/2014/main" id="{40A5579F-07FB-4A94-89DB-E685950424F2}"/>
              </a:ext>
            </a:extLst>
          </p:cNvPr>
          <p:cNvSpPr>
            <a:spLocks noGrp="1"/>
          </p:cNvSpPr>
          <p:nvPr/>
        </p:nvSpPr>
        <p:spPr>
          <a:xfrm>
            <a:off x="8572500" y="6486525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60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hlinkClick r:id="rId8"/>
              </a:rPr>
              <a:t>by Snehasish Das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49707A1-5DB6-4505-B869-BF1A892DB39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95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1424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49108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53DB8D9-5E16-485C-8819-9261F65CCD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1EC5298C-F35C-4825-BBA6-82202E9DA94E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85725" cy="85725"/>
          </a:xfrm>
          <a:prstGeom prst="ellipse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4C9C85EA-0FC1-43F0-A7C3-A76F9BA75D8B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DDE6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DE6EA"/>
                </a:solidFill>
                <a:latin typeface="Aptos"/>
                <a:ea typeface="Aptos"/>
                <a:cs typeface="Aptos"/>
              </a:rPr>
              <a:t>AUTOMATION ROADMAP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427BA7-98E7-4D7E-BCEA-022DE8E646CD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096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Build the base, scale execution, then prove readiness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E1032-4BEE-4569-B8A9-BAA8CA844500}"/>
              </a:ext>
            </a:extLst>
          </p:cNvPr>
          <p:cNvSpPr>
            <a:spLocks noGrp="1"/>
          </p:cNvSpPr>
          <p:nvPr/>
        </p:nvSpPr>
        <p:spPr>
          <a:xfrm>
            <a:off x="1638300" y="3467100"/>
            <a:ext cx="8572500" cy="57150"/>
          </a:xfrm>
          <a:prstGeom prst="rect">
            <a:avLst/>
          </a:prstGeom>
          <a:solidFill>
            <a:srgbClr val="364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93DCF81-2F73-44E6-BD31-C5B07DB84D94}"/>
              </a:ext>
            </a:extLst>
          </p:cNvPr>
          <p:cNvSpPr>
            <a:spLocks noGrp="1"/>
          </p:cNvSpPr>
          <p:nvPr/>
        </p:nvSpPr>
        <p:spPr>
          <a:xfrm>
            <a:off x="1276350" y="3238500"/>
            <a:ext cx="514350" cy="514350"/>
          </a:xfrm>
          <a:prstGeom prst="ellipse">
            <a:avLst/>
          </a:prstGeom>
          <a:solidFill>
            <a:srgbClr val="16A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5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409700" y="3371850"/>
            <a:ext cx="247650" cy="2476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B151DE5-4D1A-46B3-A11F-FA0CBC9DB3FC}"/>
              </a:ext>
            </a:extLst>
          </p:cNvPr>
          <p:cNvSpPr>
            <a:spLocks noGrp="1"/>
          </p:cNvSpPr>
          <p:nvPr/>
        </p:nvSpPr>
        <p:spPr>
          <a:xfrm>
            <a:off x="1028700" y="295275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>
                <a:solidFill>
                  <a:srgbClr val="DDE6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DE6EA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788E81-9408-4DDD-9518-6024FDAB9756}"/>
              </a:ext>
            </a:extLst>
          </p:cNvPr>
          <p:cNvSpPr>
            <a:spLocks noGrp="1"/>
          </p:cNvSpPr>
          <p:nvPr/>
        </p:nvSpPr>
        <p:spPr>
          <a:xfrm>
            <a:off x="952500" y="3962400"/>
            <a:ext cx="2781300" cy="1619250"/>
          </a:xfrm>
          <a:prstGeom prst="rect">
            <a:avLst/>
          </a:prstGeom>
          <a:solidFill>
            <a:srgbClr val="17252D"/>
          </a:solidFill>
          <a:ln w="9525">
            <a:solidFill>
              <a:srgbClr val="2C3B4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D2477F-9AA5-4263-B162-B1042A60F434}"/>
              </a:ext>
            </a:extLst>
          </p:cNvPr>
          <p:cNvSpPr>
            <a:spLocks noGrp="1"/>
          </p:cNvSpPr>
          <p:nvPr/>
        </p:nvSpPr>
        <p:spPr>
          <a:xfrm>
            <a:off x="952500" y="3962400"/>
            <a:ext cx="2781300" cy="76200"/>
          </a:xfrm>
          <a:prstGeom prst="rect">
            <a:avLst/>
          </a:prstGeom>
          <a:solidFill>
            <a:srgbClr val="16A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9CE0A9-25C0-4E60-949D-C4560BF2939B}"/>
              </a:ext>
            </a:extLst>
          </p:cNvPr>
          <p:cNvSpPr>
            <a:spLocks noGrp="1"/>
          </p:cNvSpPr>
          <p:nvPr/>
        </p:nvSpPr>
        <p:spPr>
          <a:xfrm>
            <a:off x="1162050" y="417195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6A6A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6A3"/>
                </a:solidFill>
                <a:latin typeface="Aptos"/>
                <a:ea typeface="Aptos"/>
                <a:cs typeface="Aptos"/>
              </a:rPr>
              <a:t>BASE LAYER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C95B34-6FA6-4B94-A0F0-97D1864E6B39}"/>
              </a:ext>
            </a:extLst>
          </p:cNvPr>
          <p:cNvSpPr>
            <a:spLocks noGrp="1"/>
          </p:cNvSpPr>
          <p:nvPr/>
        </p:nvSpPr>
        <p:spPr>
          <a:xfrm>
            <a:off x="1162050" y="4400550"/>
            <a:ext cx="2266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Reusable core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867332-4B6E-4FAF-AABB-C88EAD1259B2}"/>
              </a:ext>
            </a:extLst>
          </p:cNvPr>
          <p:cNvSpPr>
            <a:spLocks noGrp="1"/>
          </p:cNvSpPr>
          <p:nvPr/>
        </p:nvSpPr>
        <p:spPr>
          <a:xfrm>
            <a:off x="1162050" y="4800600"/>
            <a:ext cx="2247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0">
                <a:solidFill>
                  <a:srgbClr val="B9C7C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B9C7CE"/>
                </a:solidFill>
                <a:latin typeface="Aptos"/>
                <a:ea typeface="Aptos"/>
                <a:cs typeface="Aptos"/>
              </a:rPr>
              <a:t>JSON data, config utilities, module base classes, Maven structure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55352E2-8B70-43E0-A904-8ED98430356D}"/>
              </a:ext>
            </a:extLst>
          </p:cNvPr>
          <p:cNvSpPr>
            <a:spLocks noGrp="1"/>
          </p:cNvSpPr>
          <p:nvPr/>
        </p:nvSpPr>
        <p:spPr>
          <a:xfrm>
            <a:off x="4991100" y="3238500"/>
            <a:ext cx="514350" cy="514350"/>
          </a:xfrm>
          <a:prstGeom prst="ellipse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3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124450" y="3371850"/>
            <a:ext cx="247650" cy="2476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0BA418E-D77B-47F5-8497-3BB160540607}"/>
              </a:ext>
            </a:extLst>
          </p:cNvPr>
          <p:cNvSpPr>
            <a:spLocks noGrp="1"/>
          </p:cNvSpPr>
          <p:nvPr/>
        </p:nvSpPr>
        <p:spPr>
          <a:xfrm>
            <a:off x="4743450" y="295275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>
                <a:solidFill>
                  <a:srgbClr val="DDE6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DE6EA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5432B7-2394-49BA-83EF-06F4303B72FD}"/>
              </a:ext>
            </a:extLst>
          </p:cNvPr>
          <p:cNvSpPr>
            <a:spLocks noGrp="1"/>
          </p:cNvSpPr>
          <p:nvPr/>
        </p:nvSpPr>
        <p:spPr>
          <a:xfrm>
            <a:off x="4667250" y="3962400"/>
            <a:ext cx="2781300" cy="1619250"/>
          </a:xfrm>
          <a:prstGeom prst="rect">
            <a:avLst/>
          </a:prstGeom>
          <a:solidFill>
            <a:srgbClr val="17252D"/>
          </a:solidFill>
          <a:ln w="9525">
            <a:solidFill>
              <a:srgbClr val="2C3B44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7267D5-7653-4CC0-9B7E-5B0051E6DFA5}"/>
              </a:ext>
            </a:extLst>
          </p:cNvPr>
          <p:cNvSpPr>
            <a:spLocks noGrp="1"/>
          </p:cNvSpPr>
          <p:nvPr/>
        </p:nvSpPr>
        <p:spPr>
          <a:xfrm>
            <a:off x="4667250" y="3962400"/>
            <a:ext cx="2781300" cy="7620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009342-97D7-43C2-AA33-4F0691992486}"/>
              </a:ext>
            </a:extLst>
          </p:cNvPr>
          <p:cNvSpPr>
            <a:spLocks noGrp="1"/>
          </p:cNvSpPr>
          <p:nvPr/>
        </p:nvSpPr>
        <p:spPr>
          <a:xfrm>
            <a:off x="4876800" y="417195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TEST LAYER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86FBE0-E8C1-4E07-86AD-050D7FC04E85}"/>
              </a:ext>
            </a:extLst>
          </p:cNvPr>
          <p:cNvSpPr>
            <a:spLocks noGrp="1"/>
          </p:cNvSpPr>
          <p:nvPr/>
        </p:nvSpPr>
        <p:spPr>
          <a:xfrm>
            <a:off x="4876800" y="4400550"/>
            <a:ext cx="2266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Parallel coverage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423FAC-02E6-42B9-9786-19A2DFC15F76}"/>
              </a:ext>
            </a:extLst>
          </p:cNvPr>
          <p:cNvSpPr>
            <a:spLocks noGrp="1"/>
          </p:cNvSpPr>
          <p:nvPr/>
        </p:nvSpPr>
        <p:spPr>
          <a:xfrm>
            <a:off x="4876800" y="4800600"/>
            <a:ext cx="2247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0">
                <a:solidFill>
                  <a:srgbClr val="B9C7C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B9C7CE"/>
                </a:solidFill>
                <a:latin typeface="Aptos"/>
                <a:ea typeface="Aptos"/>
                <a:cs typeface="Aptos"/>
              </a:rPr>
              <a:t>UI, API, contract, integration, E2E, smoke suites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3C522D7-E7EC-4789-8DB6-0D96FC7623F2}"/>
              </a:ext>
            </a:extLst>
          </p:cNvPr>
          <p:cNvSpPr>
            <a:spLocks noGrp="1"/>
          </p:cNvSpPr>
          <p:nvPr/>
        </p:nvSpPr>
        <p:spPr>
          <a:xfrm>
            <a:off x="8705850" y="3238500"/>
            <a:ext cx="514350" cy="514350"/>
          </a:xfrm>
          <a:prstGeom prst="ellipse">
            <a:avLst/>
          </a:prstGeom>
          <a:solidFill>
            <a:srgbClr val="4FB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1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839200" y="3371850"/>
            <a:ext cx="247650" cy="24765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6A431E4-C52D-4E90-A3AB-2605E6AE7208}"/>
              </a:ext>
            </a:extLst>
          </p:cNvPr>
          <p:cNvSpPr>
            <a:spLocks noGrp="1"/>
          </p:cNvSpPr>
          <p:nvPr/>
        </p:nvSpPr>
        <p:spPr>
          <a:xfrm>
            <a:off x="8458200" y="295275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>
                <a:solidFill>
                  <a:srgbClr val="DDE6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DE6EA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5892A5-0F49-4D81-9BBA-1D3B5D41C833}"/>
              </a:ext>
            </a:extLst>
          </p:cNvPr>
          <p:cNvSpPr>
            <a:spLocks noGrp="1"/>
          </p:cNvSpPr>
          <p:nvPr/>
        </p:nvSpPr>
        <p:spPr>
          <a:xfrm>
            <a:off x="8382000" y="3962400"/>
            <a:ext cx="2781300" cy="1619250"/>
          </a:xfrm>
          <a:prstGeom prst="rect">
            <a:avLst/>
          </a:prstGeom>
          <a:solidFill>
            <a:srgbClr val="17252D"/>
          </a:solidFill>
          <a:ln w="9525">
            <a:solidFill>
              <a:srgbClr val="2C3B44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9BF48-30AE-4C69-A30B-986BAF4B35CF}"/>
              </a:ext>
            </a:extLst>
          </p:cNvPr>
          <p:cNvSpPr>
            <a:spLocks noGrp="1"/>
          </p:cNvSpPr>
          <p:nvPr/>
        </p:nvSpPr>
        <p:spPr>
          <a:xfrm>
            <a:off x="8382000" y="3962400"/>
            <a:ext cx="2781300" cy="76200"/>
          </a:xfrm>
          <a:prstGeom prst="rect">
            <a:avLst/>
          </a:prstGeom>
          <a:solidFill>
            <a:srgbClr val="4FB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2FFE2A-281B-4C8E-B035-9CEC936B6BD5}"/>
              </a:ext>
            </a:extLst>
          </p:cNvPr>
          <p:cNvSpPr>
            <a:spLocks noGrp="1"/>
          </p:cNvSpPr>
          <p:nvPr/>
        </p:nvSpPr>
        <p:spPr>
          <a:xfrm>
            <a:off x="8591550" y="417195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4FB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BC7B"/>
                </a:solidFill>
                <a:latin typeface="Aptos"/>
                <a:ea typeface="Aptos"/>
                <a:cs typeface="Aptos"/>
              </a:rPr>
              <a:t>DELIVERY LAYER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65719C-006B-4C8D-B329-AF5B52D1FD9D}"/>
              </a:ext>
            </a:extLst>
          </p:cNvPr>
          <p:cNvSpPr>
            <a:spLocks noGrp="1"/>
          </p:cNvSpPr>
          <p:nvPr/>
        </p:nvSpPr>
        <p:spPr>
          <a:xfrm>
            <a:off x="8591550" y="4400550"/>
            <a:ext cx="2266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 execution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390A3-19A7-4473-BF2D-713CE746FD42}"/>
              </a:ext>
            </a:extLst>
          </p:cNvPr>
          <p:cNvSpPr>
            <a:spLocks noGrp="1"/>
          </p:cNvSpPr>
          <p:nvPr/>
        </p:nvSpPr>
        <p:spPr>
          <a:xfrm>
            <a:off x="8591550" y="4800600"/>
            <a:ext cx="2247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0">
                <a:solidFill>
                  <a:srgbClr val="B9C7C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B9C7CE"/>
                </a:solidFill>
                <a:latin typeface="Aptos"/>
                <a:ea typeface="Aptos"/>
                <a:cs typeface="Aptos"/>
              </a:rPr>
              <a:t>Extent Reports, screenshots, Docker, AWS, LambdaTest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11F04B-454C-4D46-AF96-BAD1A417FDDD}"/>
              </a:ext>
            </a:extLst>
          </p:cNvPr>
          <p:cNvSpPr>
            <a:spLocks noGrp="1"/>
          </p:cNvSpPr>
          <p:nvPr/>
        </p:nvSpPr>
        <p:spPr>
          <a:xfrm>
            <a:off x="6877050" y="1752600"/>
            <a:ext cx="38671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Principle: every layer should increase release confidence without duplicating maintenance effort.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046231-4AA2-4734-BD1E-0CA5B1F03FE1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9715500" cy="9525"/>
          </a:xfrm>
          <a:prstGeom prst="rect">
            <a:avLst/>
          </a:prstGeom>
          <a:solidFill>
            <a:srgbClr val="2E3A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233976-EA62-47DA-A89B-36771858493A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9FB0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BA"/>
                </a:solidFill>
                <a:latin typeface="Aptos"/>
                <a:ea typeface="Aptos"/>
                <a:cs typeface="Aptos"/>
              </a:rPr>
              <a:t>CoCoINE SDET portfolio</a:t>
            </a:r>
          </a:p>
        </p:txBody>
      </p:sp>
      <p:sp>
        <p:nvSpPr>
          <p:cNvPr id="33" name="linkedin-footer">
            <a:extLst>
              <a:ext uri="{FF2B5EF4-FFF2-40B4-BE49-F238E27FC236}">
                <a16:creationId xmlns:a16="http://schemas.microsoft.com/office/drawing/2014/main" id="{06E4084E-8B4F-4F16-94CB-9AE69C9E37E9}"/>
              </a:ext>
            </a:extLst>
          </p:cNvPr>
          <p:cNvSpPr>
            <a:spLocks noGrp="1"/>
          </p:cNvSpPr>
          <p:nvPr/>
        </p:nvSpPr>
        <p:spPr>
          <a:xfrm>
            <a:off x="8572500" y="6486525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9FB0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hlinkClick r:id="rId6"/>
              </a:rPr>
              <a:t>by Snehasish Das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71A3ED-4582-4C0C-B817-448B95B0A57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95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DDE6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DE6E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52477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D9EBD229-42A2-4A06-B64A-A92AE37A40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4B36FC42-FCFF-46EF-9B42-62E6C43A11A5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85725" cy="85725"/>
          </a:xfrm>
          <a:prstGeom prst="ellipse">
            <a:avLst/>
          </a:prstGeom>
          <a:solidFill>
            <a:srgbClr val="F26A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D46B03C-3802-411A-B7A2-9862056B0E54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424F"/>
                </a:solidFill>
                <a:latin typeface="Aptos"/>
                <a:ea typeface="Aptos"/>
                <a:cs typeface="Aptos"/>
              </a:rPr>
              <a:t>COVERAGE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3B7AAB-508B-46BE-B661-AC083CDA0E85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79057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Test the risk layer, not only the browser screen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58A574-06F9-4146-815E-A407E5C11246}"/>
              </a:ext>
            </a:extLst>
          </p:cNvPr>
          <p:cNvSpPr>
            <a:spLocks noGrp="1"/>
          </p:cNvSpPr>
          <p:nvPr/>
        </p:nvSpPr>
        <p:spPr>
          <a:xfrm>
            <a:off x="1800225" y="2390775"/>
            <a:ext cx="2686050" cy="2686050"/>
          </a:xfrm>
          <a:prstGeom prst="ellipse">
            <a:avLst/>
          </a:prstGeom>
          <a:solidFill>
            <a:srgbClr val="E4ED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93826B-73E7-4A55-8819-95CBFAB247B9}"/>
              </a:ext>
            </a:extLst>
          </p:cNvPr>
          <p:cNvSpPr>
            <a:spLocks noGrp="1"/>
          </p:cNvSpPr>
          <p:nvPr/>
        </p:nvSpPr>
        <p:spPr>
          <a:xfrm>
            <a:off x="2105025" y="2695575"/>
            <a:ext cx="2076450" cy="2076450"/>
          </a:xfrm>
          <a:prstGeom prst="ellipse">
            <a:avLst/>
          </a:prstGeom>
          <a:solidFill>
            <a:srgbClr val="E4F4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F4EE15-F142-4413-B558-0D2B8DBF4A3C}"/>
              </a:ext>
            </a:extLst>
          </p:cNvPr>
          <p:cNvSpPr>
            <a:spLocks noGrp="1"/>
          </p:cNvSpPr>
          <p:nvPr/>
        </p:nvSpPr>
        <p:spPr>
          <a:xfrm>
            <a:off x="2409825" y="3000375"/>
            <a:ext cx="1466850" cy="1466850"/>
          </a:xfrm>
          <a:prstGeom prst="ellipse">
            <a:avLst/>
          </a:prstGeom>
          <a:solidFill>
            <a:srgbClr val="FFF0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105B435-F790-4B37-B57B-4241F0CD0340}"/>
              </a:ext>
            </a:extLst>
          </p:cNvPr>
          <p:cNvSpPr>
            <a:spLocks noGrp="1"/>
          </p:cNvSpPr>
          <p:nvPr/>
        </p:nvSpPr>
        <p:spPr>
          <a:xfrm>
            <a:off x="2724150" y="3314700"/>
            <a:ext cx="838200" cy="838200"/>
          </a:xfrm>
          <a:prstGeom prst="ellipse">
            <a:avLst/>
          </a:prstGeom>
          <a:solidFill>
            <a:srgbClr val="FDE5DE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9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914650" y="3514725"/>
            <a:ext cx="457200" cy="4572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CA09132-764D-4F84-83CF-2AEF33AE0D17}"/>
              </a:ext>
            </a:extLst>
          </p:cNvPr>
          <p:cNvSpPr>
            <a:spLocks noGrp="1"/>
          </p:cNvSpPr>
          <p:nvPr/>
        </p:nvSpPr>
        <p:spPr>
          <a:xfrm>
            <a:off x="1390650" y="2209800"/>
            <a:ext cx="1581150" cy="5524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F6E89F-1748-43C0-B5BE-7DCCE93353FF}"/>
              </a:ext>
            </a:extLst>
          </p:cNvPr>
          <p:cNvSpPr>
            <a:spLocks noGrp="1"/>
          </p:cNvSpPr>
          <p:nvPr/>
        </p:nvSpPr>
        <p:spPr>
          <a:xfrm>
            <a:off x="1390650" y="2209800"/>
            <a:ext cx="57150" cy="552450"/>
          </a:xfrm>
          <a:prstGeom prst="rect">
            <a:avLst/>
          </a:prstGeom>
          <a:solidFill>
            <a:srgbClr val="3F7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8A51B2-9C02-4FBD-99DB-D820671611A9}"/>
              </a:ext>
            </a:extLst>
          </p:cNvPr>
          <p:cNvSpPr>
            <a:spLocks noGrp="1"/>
          </p:cNvSpPr>
          <p:nvPr/>
        </p:nvSpPr>
        <p:spPr>
          <a:xfrm>
            <a:off x="1543050" y="2295525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3F7DD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F7DD6"/>
                </a:solidFill>
                <a:latin typeface="Aptos"/>
                <a:ea typeface="Aptos"/>
                <a:cs typeface="Aptos"/>
              </a:rPr>
              <a:t>End-to-end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713D45-6ECB-4014-9F33-944CB5988A68}"/>
              </a:ext>
            </a:extLst>
          </p:cNvPr>
          <p:cNvSpPr>
            <a:spLocks noGrp="1"/>
          </p:cNvSpPr>
          <p:nvPr/>
        </p:nvSpPr>
        <p:spPr>
          <a:xfrm>
            <a:off x="1543050" y="2505075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complete user workflows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2AB7B0-6A54-4AA6-AD44-BF4821DEB43C}"/>
              </a:ext>
            </a:extLst>
          </p:cNvPr>
          <p:cNvSpPr>
            <a:spLocks noGrp="1"/>
          </p:cNvSpPr>
          <p:nvPr/>
        </p:nvSpPr>
        <p:spPr>
          <a:xfrm>
            <a:off x="1104900" y="4819650"/>
            <a:ext cx="1581150" cy="5524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26F68D-277F-4CE9-9A3A-063DA5167BA0}"/>
              </a:ext>
            </a:extLst>
          </p:cNvPr>
          <p:cNvSpPr>
            <a:spLocks noGrp="1"/>
          </p:cNvSpPr>
          <p:nvPr/>
        </p:nvSpPr>
        <p:spPr>
          <a:xfrm>
            <a:off x="1104900" y="4819650"/>
            <a:ext cx="57150" cy="552450"/>
          </a:xfrm>
          <a:prstGeom prst="rect">
            <a:avLst/>
          </a:prstGeom>
          <a:solidFill>
            <a:srgbClr val="4FB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21115F-82FC-47B4-91DA-59B4E1C1976C}"/>
              </a:ext>
            </a:extLst>
          </p:cNvPr>
          <p:cNvSpPr>
            <a:spLocks noGrp="1"/>
          </p:cNvSpPr>
          <p:nvPr/>
        </p:nvSpPr>
        <p:spPr>
          <a:xfrm>
            <a:off x="1257300" y="4905375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4FBC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BC7B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36B76E-A3A1-4488-8509-A62CC07154BC}"/>
              </a:ext>
            </a:extLst>
          </p:cNvPr>
          <p:cNvSpPr>
            <a:spLocks noGrp="1"/>
          </p:cNvSpPr>
          <p:nvPr/>
        </p:nvSpPr>
        <p:spPr>
          <a:xfrm>
            <a:off x="1257300" y="5114925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fast isolated validation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DE50F1-9A33-4966-8245-C1082D532DF3}"/>
              </a:ext>
            </a:extLst>
          </p:cNvPr>
          <p:cNvSpPr>
            <a:spLocks noGrp="1"/>
          </p:cNvSpPr>
          <p:nvPr/>
        </p:nvSpPr>
        <p:spPr>
          <a:xfrm>
            <a:off x="4705350" y="2209800"/>
            <a:ext cx="1581150" cy="5524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1792C9-8F39-4737-A19D-5E29A50737CC}"/>
              </a:ext>
            </a:extLst>
          </p:cNvPr>
          <p:cNvSpPr>
            <a:spLocks noGrp="1"/>
          </p:cNvSpPr>
          <p:nvPr/>
        </p:nvSpPr>
        <p:spPr>
          <a:xfrm>
            <a:off x="4705350" y="2209800"/>
            <a:ext cx="57150" cy="55245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F2D14C-79FF-48A0-AE2E-9FEF457CC935}"/>
              </a:ext>
            </a:extLst>
          </p:cNvPr>
          <p:cNvSpPr>
            <a:spLocks noGrp="1"/>
          </p:cNvSpPr>
          <p:nvPr/>
        </p:nvSpPr>
        <p:spPr>
          <a:xfrm>
            <a:off x="4857750" y="2295525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API + contract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AF6B09-FCB3-48A7-BEFF-A2020F9B5626}"/>
              </a:ext>
            </a:extLst>
          </p:cNvPr>
          <p:cNvSpPr>
            <a:spLocks noGrp="1"/>
          </p:cNvSpPr>
          <p:nvPr/>
        </p:nvSpPr>
        <p:spPr>
          <a:xfrm>
            <a:off x="4857750" y="2505075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REST checks and schemas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BA7EA4-E658-416C-B988-B572B473DC2D}"/>
              </a:ext>
            </a:extLst>
          </p:cNvPr>
          <p:cNvSpPr>
            <a:spLocks noGrp="1"/>
          </p:cNvSpPr>
          <p:nvPr/>
        </p:nvSpPr>
        <p:spPr>
          <a:xfrm>
            <a:off x="4705350" y="4819650"/>
            <a:ext cx="1581150" cy="5524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CE0B3C-33EB-4033-B517-E0B27BE6C1EC}"/>
              </a:ext>
            </a:extLst>
          </p:cNvPr>
          <p:cNvSpPr>
            <a:spLocks noGrp="1"/>
          </p:cNvSpPr>
          <p:nvPr/>
        </p:nvSpPr>
        <p:spPr>
          <a:xfrm>
            <a:off x="4705350" y="4819650"/>
            <a:ext cx="57150" cy="552450"/>
          </a:xfrm>
          <a:prstGeom prst="rect">
            <a:avLst/>
          </a:prstGeom>
          <a:solidFill>
            <a:srgbClr val="F26A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8349AE-2D7D-40E4-95F0-6A3B475E5B6D}"/>
              </a:ext>
            </a:extLst>
          </p:cNvPr>
          <p:cNvSpPr>
            <a:spLocks noGrp="1"/>
          </p:cNvSpPr>
          <p:nvPr/>
        </p:nvSpPr>
        <p:spPr>
          <a:xfrm>
            <a:off x="4857750" y="4905375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F26A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6A4F"/>
                </a:solidFill>
                <a:latin typeface="Aptos"/>
                <a:ea typeface="Aptos"/>
                <a:cs typeface="Aptos"/>
              </a:rPr>
              <a:t>Smoke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22E65A-1475-41DF-8AE9-7D82BF4B2749}"/>
              </a:ext>
            </a:extLst>
          </p:cNvPr>
          <p:cNvSpPr>
            <a:spLocks noGrp="1"/>
          </p:cNvSpPr>
          <p:nvPr/>
        </p:nvSpPr>
        <p:spPr>
          <a:xfrm>
            <a:off x="4857750" y="5114925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quick release confidence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FB5A1C-233C-473D-8BAE-5FD1AC5F5F3D}"/>
              </a:ext>
            </a:extLst>
          </p:cNvPr>
          <p:cNvSpPr>
            <a:spLocks noGrp="1"/>
          </p:cNvSpPr>
          <p:nvPr/>
        </p:nvSpPr>
        <p:spPr>
          <a:xfrm>
            <a:off x="7000875" y="2190750"/>
            <a:ext cx="3143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11C07-8D0B-4988-8CFC-F317360AE1DE}"/>
              </a:ext>
            </a:extLst>
          </p:cNvPr>
          <p:cNvSpPr>
            <a:spLocks noGrp="1"/>
          </p:cNvSpPr>
          <p:nvPr/>
        </p:nvSpPr>
        <p:spPr>
          <a:xfrm>
            <a:off x="7000875" y="2190750"/>
            <a:ext cx="66675" cy="590550"/>
          </a:xfrm>
          <a:prstGeom prst="rect">
            <a:avLst/>
          </a:prstGeom>
          <a:solidFill>
            <a:srgbClr val="16A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8" name="Graphic 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210425" y="2352675"/>
            <a:ext cx="266700" cy="2667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41EB5B39-1501-49EF-9F01-E0262078BEB0}"/>
              </a:ext>
            </a:extLst>
          </p:cNvPr>
          <p:cNvSpPr>
            <a:spLocks noGrp="1"/>
          </p:cNvSpPr>
          <p:nvPr/>
        </p:nvSpPr>
        <p:spPr>
          <a:xfrm>
            <a:off x="7648575" y="23050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UI interaction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58E5A5-0A74-4779-9052-541CCD515B63}"/>
              </a:ext>
            </a:extLst>
          </p:cNvPr>
          <p:cNvSpPr>
            <a:spLocks noGrp="1"/>
          </p:cNvSpPr>
          <p:nvPr/>
        </p:nvSpPr>
        <p:spPr>
          <a:xfrm>
            <a:off x="7648575" y="2533650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Forms, uploads, waits, alerts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BD58DE-E4BF-4F9F-B60D-5C2E90DCA90B}"/>
              </a:ext>
            </a:extLst>
          </p:cNvPr>
          <p:cNvSpPr>
            <a:spLocks noGrp="1"/>
          </p:cNvSpPr>
          <p:nvPr/>
        </p:nvSpPr>
        <p:spPr>
          <a:xfrm>
            <a:off x="8543925" y="2819400"/>
            <a:ext cx="47625" cy="209550"/>
          </a:xfrm>
          <a:prstGeom prst="rect">
            <a:avLst/>
          </a:prstGeom>
          <a:solidFill>
            <a:srgbClr val="D8D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5F8F01C-77A5-450A-B014-1EA3CD609BF8}"/>
              </a:ext>
            </a:extLst>
          </p:cNvPr>
          <p:cNvSpPr>
            <a:spLocks noGrp="1"/>
          </p:cNvSpPr>
          <p:nvPr/>
        </p:nvSpPr>
        <p:spPr>
          <a:xfrm>
            <a:off x="7000875" y="3028950"/>
            <a:ext cx="3143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FC2719-9A3F-4774-8CEF-247EDAD6B5B0}"/>
              </a:ext>
            </a:extLst>
          </p:cNvPr>
          <p:cNvSpPr>
            <a:spLocks noGrp="1"/>
          </p:cNvSpPr>
          <p:nvPr/>
        </p:nvSpPr>
        <p:spPr>
          <a:xfrm>
            <a:off x="7000875" y="3028950"/>
            <a:ext cx="66675" cy="59055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4" name="Graphic 3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210425" y="3190875"/>
            <a:ext cx="266700" cy="2667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8BC22943-E909-4F0F-A94C-550BDD84DE1B}"/>
              </a:ext>
            </a:extLst>
          </p:cNvPr>
          <p:cNvSpPr>
            <a:spLocks noGrp="1"/>
          </p:cNvSpPr>
          <p:nvPr/>
        </p:nvSpPr>
        <p:spPr>
          <a:xfrm>
            <a:off x="7648575" y="31432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Service behavior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9FB8F35-0B0C-4121-849F-14630B18FF26}"/>
              </a:ext>
            </a:extLst>
          </p:cNvPr>
          <p:cNvSpPr>
            <a:spLocks noGrp="1"/>
          </p:cNvSpPr>
          <p:nvPr/>
        </p:nvSpPr>
        <p:spPr>
          <a:xfrm>
            <a:off x="7648575" y="3371850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GET, POST, PUT, PATCH, DELETE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696C0DE-A217-4C77-8CCD-77EAACC73B10}"/>
              </a:ext>
            </a:extLst>
          </p:cNvPr>
          <p:cNvSpPr>
            <a:spLocks noGrp="1"/>
          </p:cNvSpPr>
          <p:nvPr/>
        </p:nvSpPr>
        <p:spPr>
          <a:xfrm>
            <a:off x="8543925" y="3657600"/>
            <a:ext cx="47625" cy="209550"/>
          </a:xfrm>
          <a:prstGeom prst="rect">
            <a:avLst/>
          </a:prstGeom>
          <a:solidFill>
            <a:srgbClr val="D8D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2B3B49-C233-4B68-B0F6-0C03FC4046F9}"/>
              </a:ext>
            </a:extLst>
          </p:cNvPr>
          <p:cNvSpPr>
            <a:spLocks noGrp="1"/>
          </p:cNvSpPr>
          <p:nvPr/>
        </p:nvSpPr>
        <p:spPr>
          <a:xfrm>
            <a:off x="7000875" y="3867150"/>
            <a:ext cx="3143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B7EA91-9065-4D7E-B4D8-16B49821925F}"/>
              </a:ext>
            </a:extLst>
          </p:cNvPr>
          <p:cNvSpPr>
            <a:spLocks noGrp="1"/>
          </p:cNvSpPr>
          <p:nvPr/>
        </p:nvSpPr>
        <p:spPr>
          <a:xfrm>
            <a:off x="7000875" y="3867150"/>
            <a:ext cx="66675" cy="590550"/>
          </a:xfrm>
          <a:prstGeom prst="rect">
            <a:avLst/>
          </a:prstGeom>
          <a:solidFill>
            <a:srgbClr val="3F7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0" name="Graphic 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210425" y="4029075"/>
            <a:ext cx="266700" cy="2667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DE55DA67-A6F7-4DDA-9455-69A618570DB4}"/>
              </a:ext>
            </a:extLst>
          </p:cNvPr>
          <p:cNvSpPr>
            <a:spLocks noGrp="1"/>
          </p:cNvSpPr>
          <p:nvPr/>
        </p:nvSpPr>
        <p:spPr>
          <a:xfrm>
            <a:off x="7648575" y="39814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Auth and data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DDEBA14-E1F6-46A6-B30B-EF56C93FDC90}"/>
              </a:ext>
            </a:extLst>
          </p:cNvPr>
          <p:cNvSpPr>
            <a:spLocks noGrp="1"/>
          </p:cNvSpPr>
          <p:nvPr/>
        </p:nvSpPr>
        <p:spPr>
          <a:xfrm>
            <a:off x="7648575" y="4210050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OAuth2, bearer, basic, JSONPath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3F6420F-DF76-46E2-B3BF-1562AA22FFDF}"/>
              </a:ext>
            </a:extLst>
          </p:cNvPr>
          <p:cNvSpPr>
            <a:spLocks noGrp="1"/>
          </p:cNvSpPr>
          <p:nvPr/>
        </p:nvSpPr>
        <p:spPr>
          <a:xfrm>
            <a:off x="8543925" y="4495800"/>
            <a:ext cx="47625" cy="209550"/>
          </a:xfrm>
          <a:prstGeom prst="rect">
            <a:avLst/>
          </a:prstGeom>
          <a:solidFill>
            <a:srgbClr val="D8D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BA5910A-777A-460C-870D-26205BF691A9}"/>
              </a:ext>
            </a:extLst>
          </p:cNvPr>
          <p:cNvSpPr>
            <a:spLocks noGrp="1"/>
          </p:cNvSpPr>
          <p:nvPr/>
        </p:nvSpPr>
        <p:spPr>
          <a:xfrm>
            <a:off x="7000875" y="4705350"/>
            <a:ext cx="3143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E6462CB-BFC1-4A5F-8AD5-549A59C3D7A3}"/>
              </a:ext>
            </a:extLst>
          </p:cNvPr>
          <p:cNvSpPr>
            <a:spLocks noGrp="1"/>
          </p:cNvSpPr>
          <p:nvPr/>
        </p:nvSpPr>
        <p:spPr>
          <a:xfrm>
            <a:off x="7000875" y="4705350"/>
            <a:ext cx="66675" cy="590550"/>
          </a:xfrm>
          <a:prstGeom prst="rect">
            <a:avLst/>
          </a:prstGeom>
          <a:solidFill>
            <a:srgbClr val="4FB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6" name="Graphic 4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210425" y="4867275"/>
            <a:ext cx="266700" cy="2667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8E4051F4-6B1A-4CCA-A287-E1B81F9FB0AD}"/>
              </a:ext>
            </a:extLst>
          </p:cNvPr>
          <p:cNvSpPr>
            <a:spLocks noGrp="1"/>
          </p:cNvSpPr>
          <p:nvPr/>
        </p:nvSpPr>
        <p:spPr>
          <a:xfrm>
            <a:off x="7648575" y="48196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Execution evidence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545BAE2-D13D-4D92-A913-630ED28D321D}"/>
              </a:ext>
            </a:extLst>
          </p:cNvPr>
          <p:cNvSpPr>
            <a:spLocks noGrp="1"/>
          </p:cNvSpPr>
          <p:nvPr/>
        </p:nvSpPr>
        <p:spPr>
          <a:xfrm>
            <a:off x="7648575" y="5048250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Reports, screenshots, logs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AF58FAD-18DE-48D5-BC08-1A1832CE80B0}"/>
              </a:ext>
            </a:extLst>
          </p:cNvPr>
          <p:cNvSpPr>
            <a:spLocks noGrp="1"/>
          </p:cNvSpPr>
          <p:nvPr/>
        </p:nvSpPr>
        <p:spPr>
          <a:xfrm>
            <a:off x="6991350" y="56197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26A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6A4F"/>
                </a:solidFill>
                <a:latin typeface="Aptos"/>
                <a:ea typeface="Aptos"/>
                <a:cs typeface="Aptos"/>
              </a:rPr>
              <a:t>Hiring-panel oracle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36839B2-643B-4E4E-876D-8B71A9B52D47}"/>
              </a:ext>
            </a:extLst>
          </p:cNvPr>
          <p:cNvSpPr>
            <a:spLocks noGrp="1"/>
          </p:cNvSpPr>
          <p:nvPr/>
        </p:nvSpPr>
        <p:spPr>
          <a:xfrm>
            <a:off x="6991350" y="5943600"/>
            <a:ext cx="3790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Can this framework show breadth, structure, and maintainable engineering judgment?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8134094-E0C9-4373-AD91-3B8338688C9E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9715500" cy="9525"/>
          </a:xfrm>
          <a:prstGeom prst="rect">
            <a:avLst/>
          </a:prstGeom>
          <a:solidFill>
            <a:srgbClr val="D8D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72AA30B-8864-46A7-A6EC-B7BAF4B1DD7A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0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B"/>
                </a:solidFill>
                <a:latin typeface="Aptos"/>
                <a:ea typeface="Aptos"/>
                <a:cs typeface="Aptos"/>
              </a:rPr>
              <a:t>CoCoINE SDET portfolio</a:t>
            </a:r>
          </a:p>
        </p:txBody>
      </p:sp>
      <p:sp>
        <p:nvSpPr>
          <p:cNvPr id="53" name="linkedin-footer">
            <a:extLst>
              <a:ext uri="{FF2B5EF4-FFF2-40B4-BE49-F238E27FC236}">
                <a16:creationId xmlns:a16="http://schemas.microsoft.com/office/drawing/2014/main" id="{E63FE5B6-4564-4A8C-A866-4AA100CC71C8}"/>
              </a:ext>
            </a:extLst>
          </p:cNvPr>
          <p:cNvSpPr>
            <a:spLocks noGrp="1"/>
          </p:cNvSpPr>
          <p:nvPr/>
        </p:nvSpPr>
        <p:spPr>
          <a:xfrm>
            <a:off x="8572500" y="6486525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60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hlinkClick r:id="rId8"/>
              </a:rPr>
              <a:t>by Snehasish Das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733EA64-6BDB-42EB-BB0B-A7B38D0D43A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95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1424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6969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ADDFEC1-8186-4B48-89B9-E0238CBC90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84BB3C39-4372-4944-8F08-6AFC8AD48B7A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85725" cy="85725"/>
          </a:xfrm>
          <a:prstGeom prst="ellipse">
            <a:avLst/>
          </a:prstGeom>
          <a:solidFill>
            <a:srgbClr val="16A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11DBB590-E154-45F9-BCD7-BB832AAB2EFF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DDE6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DE6EA"/>
                </a:solidFill>
                <a:latin typeface="Aptos"/>
                <a:ea typeface="Aptos"/>
                <a:cs typeface="Aptos"/>
              </a:rPr>
              <a:t>EXECUTION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01C4BE-5461-4CC1-B3F8-0D3E232F502B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framework, multiple gates: Selenium + TestNG + REST-Assured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46EEE03-092E-4A99-95BB-69B79335D6C0}"/>
              </a:ext>
            </a:extLst>
          </p:cNvPr>
          <p:cNvSpPr>
            <a:spLocks noGrp="1"/>
          </p:cNvSpPr>
          <p:nvPr/>
        </p:nvSpPr>
        <p:spPr>
          <a:xfrm>
            <a:off x="4686300" y="2438400"/>
            <a:ext cx="2209800" cy="2209800"/>
          </a:xfrm>
          <a:prstGeom prst="ellipse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9" name="Graphic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391150" y="2990850"/>
            <a:ext cx="800100" cy="800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612993A-69BA-44C0-A3D9-71C61A242036}"/>
              </a:ext>
            </a:extLst>
          </p:cNvPr>
          <p:cNvSpPr>
            <a:spLocks noGrp="1"/>
          </p:cNvSpPr>
          <p:nvPr/>
        </p:nvSpPr>
        <p:spPr>
          <a:xfrm>
            <a:off x="4953000" y="3829050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CoCoINE core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C24DFC-B349-454D-9FF2-856EE58C4BB1}"/>
              </a:ext>
            </a:extLst>
          </p:cNvPr>
          <p:cNvSpPr>
            <a:spLocks noGrp="1"/>
          </p:cNvSpPr>
          <p:nvPr/>
        </p:nvSpPr>
        <p:spPr>
          <a:xfrm>
            <a:off x="4914900" y="4114800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shared data, config, test bases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665E4D-E1B1-4A5F-BE28-2587AE84F057}"/>
              </a:ext>
            </a:extLst>
          </p:cNvPr>
          <p:cNvSpPr>
            <a:spLocks noGrp="1"/>
          </p:cNvSpPr>
          <p:nvPr/>
        </p:nvSpPr>
        <p:spPr>
          <a:xfrm>
            <a:off x="990600" y="2305050"/>
            <a:ext cx="2971800" cy="990600"/>
          </a:xfrm>
          <a:prstGeom prst="rect">
            <a:avLst/>
          </a:prstGeom>
          <a:solidFill>
            <a:srgbClr val="17252D"/>
          </a:solidFill>
          <a:ln w="9525">
            <a:solidFill>
              <a:srgbClr val="2C3B4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AF50DA-7916-41DD-ABDE-D20FF5DDA835}"/>
              </a:ext>
            </a:extLst>
          </p:cNvPr>
          <p:cNvSpPr>
            <a:spLocks noGrp="1"/>
          </p:cNvSpPr>
          <p:nvPr/>
        </p:nvSpPr>
        <p:spPr>
          <a:xfrm>
            <a:off x="990600" y="2305050"/>
            <a:ext cx="66675" cy="990600"/>
          </a:xfrm>
          <a:prstGeom prst="rect">
            <a:avLst/>
          </a:prstGeom>
          <a:solidFill>
            <a:srgbClr val="16A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4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219200" y="2533650"/>
            <a:ext cx="342900" cy="3429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6274647-5C74-445A-81F2-8AB6319A4271}"/>
              </a:ext>
            </a:extLst>
          </p:cNvPr>
          <p:cNvSpPr>
            <a:spLocks noGrp="1"/>
          </p:cNvSpPr>
          <p:nvPr/>
        </p:nvSpPr>
        <p:spPr>
          <a:xfrm>
            <a:off x="1733550" y="25336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Reusable modules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6EAD58-6A61-4FDD-A53B-26378889F569}"/>
              </a:ext>
            </a:extLst>
          </p:cNvPr>
          <p:cNvSpPr>
            <a:spLocks noGrp="1"/>
          </p:cNvSpPr>
          <p:nvPr/>
        </p:nvSpPr>
        <p:spPr>
          <a:xfrm>
            <a:off x="1733550" y="2828925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B9C7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7CE"/>
                </a:solidFill>
                <a:latin typeface="Aptos"/>
                <a:ea typeface="Aptos"/>
                <a:cs typeface="Aptos"/>
              </a:rPr>
              <a:t>ComponentTest, ContractTest, IntegrationTest, E2E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E0325C-4002-4377-AF6F-B40BC0972237}"/>
              </a:ext>
            </a:extLst>
          </p:cNvPr>
          <p:cNvSpPr>
            <a:spLocks noGrp="1"/>
          </p:cNvSpPr>
          <p:nvPr/>
        </p:nvSpPr>
        <p:spPr>
          <a:xfrm>
            <a:off x="7905750" y="2305050"/>
            <a:ext cx="2971800" cy="990600"/>
          </a:xfrm>
          <a:prstGeom prst="rect">
            <a:avLst/>
          </a:prstGeom>
          <a:solidFill>
            <a:srgbClr val="17252D"/>
          </a:solidFill>
          <a:ln w="9525">
            <a:solidFill>
              <a:srgbClr val="2C3B4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12EBDB-D2BA-40E3-BB3B-6D3C0CDDC4EF}"/>
              </a:ext>
            </a:extLst>
          </p:cNvPr>
          <p:cNvSpPr>
            <a:spLocks noGrp="1"/>
          </p:cNvSpPr>
          <p:nvPr/>
        </p:nvSpPr>
        <p:spPr>
          <a:xfrm>
            <a:off x="7905750" y="2305050"/>
            <a:ext cx="66675" cy="99060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9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34350" y="2533650"/>
            <a:ext cx="342900" cy="3429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446214C-31DE-45C1-8286-4AD78F996D55}"/>
              </a:ext>
            </a:extLst>
          </p:cNvPr>
          <p:cNvSpPr>
            <a:spLocks noGrp="1"/>
          </p:cNvSpPr>
          <p:nvPr/>
        </p:nvSpPr>
        <p:spPr>
          <a:xfrm>
            <a:off x="8648700" y="25336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Browser layer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1F129-169B-4215-B9ED-51FA58EA6BE2}"/>
              </a:ext>
            </a:extLst>
          </p:cNvPr>
          <p:cNvSpPr>
            <a:spLocks noGrp="1"/>
          </p:cNvSpPr>
          <p:nvPr/>
        </p:nvSpPr>
        <p:spPr>
          <a:xfrm>
            <a:off x="8648700" y="2828925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B9C7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7CE"/>
                </a:solidFill>
                <a:latin typeface="Aptos"/>
                <a:ea typeface="Aptos"/>
                <a:cs typeface="Aptos"/>
              </a:rPr>
              <a:t>Selenium WebDriver + WebDriverManager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8FF1BF-8AC0-44AF-B689-8F784A51C68C}"/>
              </a:ext>
            </a:extLst>
          </p:cNvPr>
          <p:cNvSpPr>
            <a:spLocks noGrp="1"/>
          </p:cNvSpPr>
          <p:nvPr/>
        </p:nvSpPr>
        <p:spPr>
          <a:xfrm>
            <a:off x="990600" y="4552950"/>
            <a:ext cx="2971800" cy="990600"/>
          </a:xfrm>
          <a:prstGeom prst="rect">
            <a:avLst/>
          </a:prstGeom>
          <a:solidFill>
            <a:srgbClr val="17252D"/>
          </a:solidFill>
          <a:ln w="9525">
            <a:solidFill>
              <a:srgbClr val="2C3B4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970EDA-8A0B-4545-A869-201A6D5E650C}"/>
              </a:ext>
            </a:extLst>
          </p:cNvPr>
          <p:cNvSpPr>
            <a:spLocks noGrp="1"/>
          </p:cNvSpPr>
          <p:nvPr/>
        </p:nvSpPr>
        <p:spPr>
          <a:xfrm>
            <a:off x="990600" y="4552950"/>
            <a:ext cx="66675" cy="990600"/>
          </a:xfrm>
          <a:prstGeom prst="rect">
            <a:avLst/>
          </a:prstGeom>
          <a:solidFill>
            <a:srgbClr val="3F7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4" name="Graphic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219200" y="4781550"/>
            <a:ext cx="342900" cy="3429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5B25845-16B9-4840-987F-6B07310D48F7}"/>
              </a:ext>
            </a:extLst>
          </p:cNvPr>
          <p:cNvSpPr>
            <a:spLocks noGrp="1"/>
          </p:cNvSpPr>
          <p:nvPr/>
        </p:nvSpPr>
        <p:spPr>
          <a:xfrm>
            <a:off x="1733550" y="47815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 layer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0C372C-B043-44E8-B6E9-0DEDC6DCC952}"/>
              </a:ext>
            </a:extLst>
          </p:cNvPr>
          <p:cNvSpPr>
            <a:spLocks noGrp="1"/>
          </p:cNvSpPr>
          <p:nvPr/>
        </p:nvSpPr>
        <p:spPr>
          <a:xfrm>
            <a:off x="1733550" y="5076825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B9C7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7CE"/>
                </a:solidFill>
                <a:latin typeface="Aptos"/>
                <a:ea typeface="Aptos"/>
                <a:cs typeface="Aptos"/>
              </a:rPr>
              <a:t>REST-Assured, JSONPath, auth methods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6E7007-1BC8-4CCB-B42B-9AF211405081}"/>
              </a:ext>
            </a:extLst>
          </p:cNvPr>
          <p:cNvSpPr>
            <a:spLocks noGrp="1"/>
          </p:cNvSpPr>
          <p:nvPr/>
        </p:nvSpPr>
        <p:spPr>
          <a:xfrm>
            <a:off x="7905750" y="4552950"/>
            <a:ext cx="2971800" cy="990600"/>
          </a:xfrm>
          <a:prstGeom prst="rect">
            <a:avLst/>
          </a:prstGeom>
          <a:solidFill>
            <a:srgbClr val="17252D"/>
          </a:solidFill>
          <a:ln w="9525">
            <a:solidFill>
              <a:srgbClr val="2C3B44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7F08A3-B336-450C-8463-A9F68C48CF28}"/>
              </a:ext>
            </a:extLst>
          </p:cNvPr>
          <p:cNvSpPr>
            <a:spLocks noGrp="1"/>
          </p:cNvSpPr>
          <p:nvPr/>
        </p:nvSpPr>
        <p:spPr>
          <a:xfrm>
            <a:off x="7905750" y="4552950"/>
            <a:ext cx="66675" cy="990600"/>
          </a:xfrm>
          <a:prstGeom prst="rect">
            <a:avLst/>
          </a:prstGeom>
          <a:solidFill>
            <a:srgbClr val="4FB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9" name="Graphic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134350" y="4781550"/>
            <a:ext cx="342900" cy="3429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A2867E5-10F3-48B1-833D-6BC8D5824A8A}"/>
              </a:ext>
            </a:extLst>
          </p:cNvPr>
          <p:cNvSpPr>
            <a:spLocks noGrp="1"/>
          </p:cNvSpPr>
          <p:nvPr/>
        </p:nvSpPr>
        <p:spPr>
          <a:xfrm>
            <a:off x="8648700" y="47815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Delivery layer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AF68E7-F9D4-45BB-8E99-66B47D77487C}"/>
              </a:ext>
            </a:extLst>
          </p:cNvPr>
          <p:cNvSpPr>
            <a:spLocks noGrp="1"/>
          </p:cNvSpPr>
          <p:nvPr/>
        </p:nvSpPr>
        <p:spPr>
          <a:xfrm>
            <a:off x="8648700" y="5076825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B9C7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7CE"/>
                </a:solidFill>
                <a:latin typeface="Aptos"/>
                <a:ea typeface="Aptos"/>
                <a:cs typeface="Aptos"/>
              </a:rPr>
              <a:t>Maven, TestNG, Extent Reports, cloud runs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A50396-B88D-4B5F-A2F3-59C46466DAFB}"/>
              </a:ext>
            </a:extLst>
          </p:cNvPr>
          <p:cNvSpPr>
            <a:spLocks noGrp="1"/>
          </p:cNvSpPr>
          <p:nvPr/>
        </p:nvSpPr>
        <p:spPr>
          <a:xfrm>
            <a:off x="4000500" y="2790825"/>
            <a:ext cx="742950" cy="38100"/>
          </a:xfrm>
          <a:prstGeom prst="rect">
            <a:avLst/>
          </a:prstGeom>
          <a:solidFill>
            <a:srgbClr val="5E6C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22F635-F0C0-4775-B614-A71A27BE21E0}"/>
              </a:ext>
            </a:extLst>
          </p:cNvPr>
          <p:cNvSpPr>
            <a:spLocks noGrp="1"/>
          </p:cNvSpPr>
          <p:nvPr/>
        </p:nvSpPr>
        <p:spPr>
          <a:xfrm>
            <a:off x="6838950" y="2790825"/>
            <a:ext cx="1028700" cy="38100"/>
          </a:xfrm>
          <a:prstGeom prst="rect">
            <a:avLst/>
          </a:prstGeom>
          <a:solidFill>
            <a:srgbClr val="5E6C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7E6165-B95C-4D19-922F-1C1ED4408334}"/>
              </a:ext>
            </a:extLst>
          </p:cNvPr>
          <p:cNvSpPr>
            <a:spLocks noGrp="1"/>
          </p:cNvSpPr>
          <p:nvPr/>
        </p:nvSpPr>
        <p:spPr>
          <a:xfrm>
            <a:off x="4000500" y="5029200"/>
            <a:ext cx="742950" cy="38100"/>
          </a:xfrm>
          <a:prstGeom prst="rect">
            <a:avLst/>
          </a:prstGeom>
          <a:solidFill>
            <a:srgbClr val="5E6C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449D3F-3A59-4454-ADCD-B72A4ED7A8F7}"/>
              </a:ext>
            </a:extLst>
          </p:cNvPr>
          <p:cNvSpPr>
            <a:spLocks noGrp="1"/>
          </p:cNvSpPr>
          <p:nvPr/>
        </p:nvSpPr>
        <p:spPr>
          <a:xfrm>
            <a:off x="6838950" y="5029200"/>
            <a:ext cx="1028700" cy="38100"/>
          </a:xfrm>
          <a:prstGeom prst="rect">
            <a:avLst/>
          </a:prstGeom>
          <a:solidFill>
            <a:srgbClr val="5E6C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E8BEBA-0F5C-403E-81C0-64C86F1C2EAF}"/>
              </a:ext>
            </a:extLst>
          </p:cNvPr>
          <p:cNvSpPr>
            <a:spLocks noGrp="1"/>
          </p:cNvSpPr>
          <p:nvPr/>
        </p:nvSpPr>
        <p:spPr>
          <a:xfrm>
            <a:off x="1219200" y="5791200"/>
            <a:ext cx="906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0">
                <a:solidFill>
                  <a:srgbClr val="DDE6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6EA"/>
                </a:solidFill>
                <a:latin typeface="Aptos"/>
                <a:ea typeface="Aptos"/>
                <a:cs typeface="Aptos"/>
              </a:rPr>
              <a:t>Portfolio signal: framework thinking across UI, API, contracts, integrations, reports, and CI/CD-ready execution.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7A0BA7-DD7C-4D77-B999-703D1778E337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9715500" cy="9525"/>
          </a:xfrm>
          <a:prstGeom prst="rect">
            <a:avLst/>
          </a:prstGeom>
          <a:solidFill>
            <a:srgbClr val="2E3A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6A79E94-E173-4C98-AA14-B9EA9ABFE52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9FB0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BA"/>
                </a:solidFill>
                <a:latin typeface="Aptos"/>
                <a:ea typeface="Aptos"/>
                <a:cs typeface="Aptos"/>
              </a:rPr>
              <a:t>CoCoINE SDET portfolio</a:t>
            </a:r>
          </a:p>
        </p:txBody>
      </p:sp>
      <p:sp>
        <p:nvSpPr>
          <p:cNvPr id="36" name="linkedin-footer">
            <a:extLst>
              <a:ext uri="{FF2B5EF4-FFF2-40B4-BE49-F238E27FC236}">
                <a16:creationId xmlns:a16="http://schemas.microsoft.com/office/drawing/2014/main" id="{DC4F2958-AC91-423F-BFF3-885F13A84B23}"/>
              </a:ext>
            </a:extLst>
          </p:cNvPr>
          <p:cNvSpPr>
            <a:spLocks noGrp="1"/>
          </p:cNvSpPr>
          <p:nvPr/>
        </p:nvSpPr>
        <p:spPr>
          <a:xfrm>
            <a:off x="8572500" y="6486525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9FB0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hlinkClick r:id="rId8"/>
              </a:rPr>
              <a:t>by Snehasish Das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9A50415-DB71-4CA8-BE35-93F5694D124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95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DDE6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DE6E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8341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9D4D151-1683-42D0-BF9C-4F41532610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1C2645E-F5BB-4A8A-A538-5939BC106836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85725" cy="85725"/>
          </a:xfrm>
          <a:prstGeom prst="ellipse">
            <a:avLst/>
          </a:prstGeom>
          <a:solidFill>
            <a:srgbClr val="4FB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25D7A21E-2675-4378-8E56-A7D7DFA6BF84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424F"/>
                </a:solidFill>
                <a:latin typeface="Aptos"/>
                <a:ea typeface="Aptos"/>
                <a:cs typeface="Aptos"/>
              </a:rPr>
              <a:t>QUALITY GATE EVIDENCE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BA6906-796F-443B-A1A0-15F9FFC2438C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framework shows reliability, visibility, and maintainability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6A5E9-08FE-444C-A308-6DD81059AD3A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04800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B93A4-9A9C-4569-9FA9-1F41D250DA03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048000" cy="723900"/>
          </a:xfrm>
          <a:prstGeom prst="rect">
            <a:avLst/>
          </a:prstGeom>
          <a:solidFill>
            <a:srgbClr val="E4F4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2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33450" y="2590800"/>
            <a:ext cx="323850" cy="3238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6ACD208-6E85-49C3-AE48-DC4A87F4CE64}"/>
              </a:ext>
            </a:extLst>
          </p:cNvPr>
          <p:cNvSpPr>
            <a:spLocks noGrp="1"/>
          </p:cNvSpPr>
          <p:nvPr/>
        </p:nvSpPr>
        <p:spPr>
          <a:xfrm>
            <a:off x="1409700" y="2590800"/>
            <a:ext cx="173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Test design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4B65E7-E314-44FB-A439-80A548788DBE}"/>
              </a:ext>
            </a:extLst>
          </p:cNvPr>
          <p:cNvSpPr>
            <a:spLocks noGrp="1"/>
          </p:cNvSpPr>
          <p:nvPr/>
        </p:nvSpPr>
        <p:spPr>
          <a:xfrm>
            <a:off x="1409700" y="2857500"/>
            <a:ext cx="180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4FBC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FBC7B"/>
                </a:solidFill>
                <a:latin typeface="Aptos"/>
                <a:ea typeface="Aptos"/>
                <a:cs typeface="Aptos"/>
              </a:rPr>
              <a:t>LAYERED COVERAGE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42C9D3-E3C3-4963-B46D-FA1B236DA02B}"/>
              </a:ext>
            </a:extLst>
          </p:cNvPr>
          <p:cNvSpPr>
            <a:spLocks noGrp="1"/>
          </p:cNvSpPr>
          <p:nvPr/>
        </p:nvSpPr>
        <p:spPr>
          <a:xfrm>
            <a:off x="971550" y="3390900"/>
            <a:ext cx="24193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Component, contract, integration, E2E, smoke, UI, and API suites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8A4BF3-2B58-43D7-8925-E5E7ADC5A984}"/>
              </a:ext>
            </a:extLst>
          </p:cNvPr>
          <p:cNvSpPr>
            <a:spLocks noGrp="1"/>
          </p:cNvSpPr>
          <p:nvPr/>
        </p:nvSpPr>
        <p:spPr>
          <a:xfrm>
            <a:off x="971550" y="4457700"/>
            <a:ext cx="514350" cy="66675"/>
          </a:xfrm>
          <a:prstGeom prst="rect">
            <a:avLst/>
          </a:prstGeom>
          <a:solidFill>
            <a:srgbClr val="4FB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8FCE0B-8C22-487F-ADE6-ED93B27EAB3D}"/>
              </a:ext>
            </a:extLst>
          </p:cNvPr>
          <p:cNvSpPr>
            <a:spLocks noGrp="1"/>
          </p:cNvSpPr>
          <p:nvPr/>
        </p:nvSpPr>
        <p:spPr>
          <a:xfrm>
            <a:off x="4286250" y="2381250"/>
            <a:ext cx="304800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0ED018-C40E-4ED7-8AE0-71369DC1CF5F}"/>
              </a:ext>
            </a:extLst>
          </p:cNvPr>
          <p:cNvSpPr>
            <a:spLocks noGrp="1"/>
          </p:cNvSpPr>
          <p:nvPr/>
        </p:nvSpPr>
        <p:spPr>
          <a:xfrm>
            <a:off x="4286250" y="2381250"/>
            <a:ext cx="3048000" cy="723900"/>
          </a:xfrm>
          <a:prstGeom prst="rect">
            <a:avLst/>
          </a:prstGeom>
          <a:solidFill>
            <a:srgbClr val="FDE5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9" name="Graphic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33900" y="2590800"/>
            <a:ext cx="323850" cy="323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CBD9C00-1156-4F40-B510-4AC1138BDDC3}"/>
              </a:ext>
            </a:extLst>
          </p:cNvPr>
          <p:cNvSpPr>
            <a:spLocks noGrp="1"/>
          </p:cNvSpPr>
          <p:nvPr/>
        </p:nvSpPr>
        <p:spPr>
          <a:xfrm>
            <a:off x="5010150" y="2590800"/>
            <a:ext cx="173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B4FAFC-49F0-458A-A1CC-90B4BB46B155}"/>
              </a:ext>
            </a:extLst>
          </p:cNvPr>
          <p:cNvSpPr>
            <a:spLocks noGrp="1"/>
          </p:cNvSpPr>
          <p:nvPr/>
        </p:nvSpPr>
        <p:spPr>
          <a:xfrm>
            <a:off x="5010150" y="2857500"/>
            <a:ext cx="180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F26A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26A4F"/>
                </a:solidFill>
                <a:latin typeface="Aptos"/>
                <a:ea typeface="Aptos"/>
                <a:cs typeface="Aptos"/>
              </a:rPr>
              <a:t>REPORTING SIGNAL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185E04-C2A7-4052-9B87-A7EFF7425A96}"/>
              </a:ext>
            </a:extLst>
          </p:cNvPr>
          <p:cNvSpPr>
            <a:spLocks noGrp="1"/>
          </p:cNvSpPr>
          <p:nvPr/>
        </p:nvSpPr>
        <p:spPr>
          <a:xfrm>
            <a:off x="4572000" y="3390900"/>
            <a:ext cx="24193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Extent Reports, hierarchical steps, screenshots, logging, failure evidence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B70087-CB31-4B92-AB4C-174CF0CB92D5}"/>
              </a:ext>
            </a:extLst>
          </p:cNvPr>
          <p:cNvSpPr>
            <a:spLocks noGrp="1"/>
          </p:cNvSpPr>
          <p:nvPr/>
        </p:nvSpPr>
        <p:spPr>
          <a:xfrm>
            <a:off x="4572000" y="4457700"/>
            <a:ext cx="514350" cy="66675"/>
          </a:xfrm>
          <a:prstGeom prst="rect">
            <a:avLst/>
          </a:prstGeom>
          <a:solidFill>
            <a:srgbClr val="F26A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950534-ECD8-46B0-909B-655217AEDE65}"/>
              </a:ext>
            </a:extLst>
          </p:cNvPr>
          <p:cNvSpPr>
            <a:spLocks noGrp="1"/>
          </p:cNvSpPr>
          <p:nvPr/>
        </p:nvSpPr>
        <p:spPr>
          <a:xfrm>
            <a:off x="7886700" y="2381250"/>
            <a:ext cx="304800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B371F0-0F00-4194-9862-CD6CB0ECF00B}"/>
              </a:ext>
            </a:extLst>
          </p:cNvPr>
          <p:cNvSpPr>
            <a:spLocks noGrp="1"/>
          </p:cNvSpPr>
          <p:nvPr/>
        </p:nvSpPr>
        <p:spPr>
          <a:xfrm>
            <a:off x="7886700" y="2381250"/>
            <a:ext cx="3048000" cy="723900"/>
          </a:xfrm>
          <a:prstGeom prst="rect">
            <a:avLst/>
          </a:prstGeom>
          <a:solidFill>
            <a:srgbClr val="E4ED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6" name="Graphic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34350" y="2590800"/>
            <a:ext cx="323850" cy="3238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35259C4-1C47-4985-B12E-839C3EE268B5}"/>
              </a:ext>
            </a:extLst>
          </p:cNvPr>
          <p:cNvSpPr>
            <a:spLocks noGrp="1"/>
          </p:cNvSpPr>
          <p:nvPr/>
        </p:nvSpPr>
        <p:spPr>
          <a:xfrm>
            <a:off x="8610600" y="2590800"/>
            <a:ext cx="173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343E8F-9D11-4333-8CC3-12247D596D2C}"/>
              </a:ext>
            </a:extLst>
          </p:cNvPr>
          <p:cNvSpPr>
            <a:spLocks noGrp="1"/>
          </p:cNvSpPr>
          <p:nvPr/>
        </p:nvSpPr>
        <p:spPr>
          <a:xfrm>
            <a:off x="8610600" y="2857500"/>
            <a:ext cx="180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3F7D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F7DD6"/>
                </a:solidFill>
                <a:latin typeface="Aptos"/>
                <a:ea typeface="Aptos"/>
                <a:cs typeface="Aptos"/>
              </a:rPr>
              <a:t>CI/CD READY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F69C27-78BF-4B5B-B630-8BC0C4196983}"/>
              </a:ext>
            </a:extLst>
          </p:cNvPr>
          <p:cNvSpPr>
            <a:spLocks noGrp="1"/>
          </p:cNvSpPr>
          <p:nvPr/>
        </p:nvSpPr>
        <p:spPr>
          <a:xfrm>
            <a:off x="8172450" y="3390900"/>
            <a:ext cx="24193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1424F"/>
                </a:solidFill>
                <a:latin typeface="Aptos"/>
                <a:ea typeface="Aptos"/>
                <a:cs typeface="Aptos"/>
              </a:rPr>
              <a:t>Maven execution, Docker containerization, AWS support, LambdaTest cloud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1869DD-760E-4C69-91D9-610B7F9474F1}"/>
              </a:ext>
            </a:extLst>
          </p:cNvPr>
          <p:cNvSpPr>
            <a:spLocks noGrp="1"/>
          </p:cNvSpPr>
          <p:nvPr/>
        </p:nvSpPr>
        <p:spPr>
          <a:xfrm>
            <a:off x="8172450" y="4457700"/>
            <a:ext cx="514350" cy="66675"/>
          </a:xfrm>
          <a:prstGeom prst="rect">
            <a:avLst/>
          </a:prstGeom>
          <a:solidFill>
            <a:srgbClr val="3F7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364889-5EFF-438A-BC18-47EB97DD4CD8}"/>
              </a:ext>
            </a:extLst>
          </p:cNvPr>
          <p:cNvSpPr>
            <a:spLocks noGrp="1"/>
          </p:cNvSpPr>
          <p:nvPr/>
        </p:nvSpPr>
        <p:spPr>
          <a:xfrm>
            <a:off x="1390650" y="5410200"/>
            <a:ext cx="8858250" cy="6858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833195-E409-405A-83A9-1823A22F23B2}"/>
              </a:ext>
            </a:extLst>
          </p:cNvPr>
          <p:cNvSpPr>
            <a:spLocks noGrp="1"/>
          </p:cNvSpPr>
          <p:nvPr/>
        </p:nvSpPr>
        <p:spPr>
          <a:xfrm>
            <a:off x="1714500" y="5581650"/>
            <a:ext cx="8172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reusable automation foundation for UI, API, contract, integration, and end-to-end validation.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F3F306-2D26-4B2F-8AB5-D83CE952B87F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9715500" cy="9525"/>
          </a:xfrm>
          <a:prstGeom prst="rect">
            <a:avLst/>
          </a:prstGeom>
          <a:solidFill>
            <a:srgbClr val="D8D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827709-02D7-4A18-8C5A-65B6EB34E95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0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B"/>
                </a:solidFill>
                <a:latin typeface="Aptos"/>
                <a:ea typeface="Aptos"/>
                <a:cs typeface="Aptos"/>
              </a:rPr>
              <a:t>CoCoINE SDET portfolio</a:t>
            </a:r>
          </a:p>
        </p:txBody>
      </p:sp>
      <p:sp>
        <p:nvSpPr>
          <p:cNvPr id="30" name="linkedin-footer">
            <a:extLst>
              <a:ext uri="{FF2B5EF4-FFF2-40B4-BE49-F238E27FC236}">
                <a16:creationId xmlns:a16="http://schemas.microsoft.com/office/drawing/2014/main" id="{8D7DF5D0-88CB-4341-8DF9-8A89D9401661}"/>
              </a:ext>
            </a:extLst>
          </p:cNvPr>
          <p:cNvSpPr>
            <a:spLocks noGrp="1"/>
          </p:cNvSpPr>
          <p:nvPr/>
        </p:nvSpPr>
        <p:spPr>
          <a:xfrm>
            <a:off x="8572500" y="6486525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60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hlinkClick r:id="rId6"/>
              </a:rPr>
              <a:t>by Snehasish Das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915C0CB-6730-4490-ABAC-53EF5F1B70E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95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3142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1424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871106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637</Words>
  <Application>Microsoft Macintosh PowerPoint</Application>
  <DocSecurity>0</DocSecurity>
  <PresentationFormat>Widescreen</PresentationFormat>
  <Paragraphs>109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Snehasish Das</cp:lastModifiedBy>
  <cp:revision>1</cp:revision>
  <dcterms:created xsi:type="dcterms:W3CDTF">2026-08-26T09:01:52Z</dcterms:created>
  <dcterms:modified xsi:type="dcterms:W3CDTF">2026-08-26T09:03:49Z</dcterms:modified>
</cp:coreProperties>
</file>